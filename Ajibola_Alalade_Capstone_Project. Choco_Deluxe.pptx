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10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(€)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269-434F-B325-9BD69322096B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269-434F-B325-9BD69322096B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269-434F-B325-9BD69322096B}"/>
              </c:ext>
            </c:extLst>
          </c:dPt>
          <c:dPt>
            <c:idx val="3"/>
            <c:invertIfNegative val="0"/>
            <c:bubble3D val="0"/>
            <c:spPr>
              <a:solidFill>
                <a:srgbClr val="378AD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269-434F-B325-9BD69322096B}"/>
              </c:ext>
            </c:extLst>
          </c:dPt>
          <c:dPt>
            <c:idx val="4"/>
            <c:invertIfNegative val="0"/>
            <c:bubble3D val="0"/>
            <c:spPr>
              <a:solidFill>
                <a:srgbClr val="D85A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269-434F-B325-9BD69322096B}"/>
              </c:ext>
            </c:extLst>
          </c:dPt>
          <c:dPt>
            <c:idx val="5"/>
            <c:invertIfNegative val="0"/>
            <c:bubble3D val="0"/>
            <c:spPr>
              <a:solidFill>
                <a:srgbClr val="D85A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269-434F-B325-9BD69322096B}"/>
              </c:ext>
            </c:extLst>
          </c:dPt>
          <c:dPt>
            <c:idx val="6"/>
            <c:invertIfNegative val="0"/>
            <c:bubble3D val="0"/>
            <c:spPr>
              <a:solidFill>
                <a:srgbClr val="D85A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269-434F-B325-9BD69322096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Lyon</c:v>
                </c:pt>
                <c:pt idx="1">
                  <c:v>Hamburg</c:v>
                </c:pt>
                <c:pt idx="2">
                  <c:v>Brussels</c:v>
                </c:pt>
                <c:pt idx="3">
                  <c:v>Zurich</c:v>
                </c:pt>
                <c:pt idx="4">
                  <c:v>Amsterdam</c:v>
                </c:pt>
                <c:pt idx="5">
                  <c:v>Barcelona</c:v>
                </c:pt>
                <c:pt idx="6">
                  <c:v>Turin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358260</c:v>
                </c:pt>
                <c:pt idx="1">
                  <c:v>586117</c:v>
                </c:pt>
                <c:pt idx="2">
                  <c:v>603629</c:v>
                </c:pt>
                <c:pt idx="3">
                  <c:v>677052</c:v>
                </c:pt>
                <c:pt idx="4">
                  <c:v>925336</c:v>
                </c:pt>
                <c:pt idx="5">
                  <c:v>969651</c:v>
                </c:pt>
                <c:pt idx="6">
                  <c:v>1007764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6269-434F-B325-9BD69322096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(€)</c:v>
                </c:pt>
              </c:strCache>
            </c:strRef>
          </c:tx>
          <c:spPr>
            <a:solidFill>
              <a:srgbClr val="D85A3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Social Media</c:v>
                </c:pt>
                <c:pt idx="1">
                  <c:v>Warehouse</c:v>
                </c:pt>
                <c:pt idx="2">
                  <c:v>Website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1337893</c:v>
                </c:pt>
                <c:pt idx="1">
                  <c:v>1454345</c:v>
                </c:pt>
                <c:pt idx="2">
                  <c:v>2335571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D3-4095-8028-8BDEFD87650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(€)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Social Media</c:v>
                </c:pt>
                <c:pt idx="1">
                  <c:v>Warehouse</c:v>
                </c:pt>
                <c:pt idx="2">
                  <c:v>Website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615431</c:v>
                </c:pt>
                <c:pt idx="1">
                  <c:v>668999</c:v>
                </c:pt>
                <c:pt idx="2">
                  <c:v>1074363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D3-4095-8028-8BDEFD87650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(€)</c:v>
                </c:pt>
              </c:strCache>
            </c:strRef>
          </c:tx>
          <c:spPr>
            <a:solidFill>
              <a:srgbClr val="E24B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030-4C84-B097-7B775BC1DD5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030-4C84-B097-7B775BC1DD5C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0030-4C84-B097-7B775BC1DD5C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0030-4C84-B097-7B775BC1DD5C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0030-4C84-B097-7B775BC1DD5C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0030-4C84-B097-7B775BC1DD5C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0030-4C84-B097-7B775BC1DD5C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0030-4C84-B097-7B775BC1DD5C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0030-4C84-B097-7B775BC1DD5C}"/>
              </c:ext>
            </c:extLst>
          </c:dPt>
          <c:dPt>
            <c:idx val="9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0030-4C84-B097-7B775BC1DD5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Wilone O'Kielt</c:v>
                </c:pt>
                <c:pt idx="1">
                  <c:v>Rafaelita Blaksland</c:v>
                </c:pt>
                <c:pt idx="2">
                  <c:v>Camilla Castle</c:v>
                </c:pt>
                <c:pt idx="3">
                  <c:v>Mallorie Waber</c:v>
                </c:pt>
                <c:pt idx="4">
                  <c:v>Husein Augar</c:v>
                </c:pt>
                <c:pt idx="5">
                  <c:v>Van Tuxwell</c:v>
                </c:pt>
                <c:pt idx="6">
                  <c:v>Barr Faughny</c:v>
                </c:pt>
                <c:pt idx="7">
                  <c:v>Gigi Bohling</c:v>
                </c:pt>
                <c:pt idx="8">
                  <c:v>Andria Kimpton</c:v>
                </c:pt>
                <c:pt idx="9">
                  <c:v>Karlen McCaffrey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54503</c:v>
                </c:pt>
                <c:pt idx="1">
                  <c:v>58506</c:v>
                </c:pt>
                <c:pt idx="2">
                  <c:v>67473</c:v>
                </c:pt>
                <c:pt idx="3">
                  <c:v>78152</c:v>
                </c:pt>
                <c:pt idx="4">
                  <c:v>79390</c:v>
                </c:pt>
                <c:pt idx="5">
                  <c:v>79706</c:v>
                </c:pt>
                <c:pt idx="6">
                  <c:v>84787</c:v>
                </c:pt>
                <c:pt idx="7">
                  <c:v>86025</c:v>
                </c:pt>
                <c:pt idx="8">
                  <c:v>86609</c:v>
                </c:pt>
                <c:pt idx="9">
                  <c:v>125868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0030-4C84-B097-7B775BC1DD5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(€)</c:v>
                </c:pt>
              </c:strCache>
            </c:strRef>
          </c:tx>
          <c:spPr>
            <a:solidFill>
              <a:srgbClr val="378AD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Choco Coated Almonds</c:v>
                </c:pt>
                <c:pt idx="1">
                  <c:v>Drinking Coco</c:v>
                </c:pt>
                <c:pt idx="2">
                  <c:v>Baker's Choco</c:v>
                </c:pt>
                <c:pt idx="3">
                  <c:v>Orange Choco</c:v>
                </c:pt>
                <c:pt idx="4">
                  <c:v>Almond Choco</c:v>
                </c:pt>
                <c:pt idx="5">
                  <c:v>White Choc</c:v>
                </c:pt>
                <c:pt idx="6">
                  <c:v>Smooth Sliky Salty</c:v>
                </c:pt>
                <c:pt idx="7">
                  <c:v>85% Dark Bars</c:v>
                </c:pt>
                <c:pt idx="8">
                  <c:v>70% Dark Bites</c:v>
                </c:pt>
                <c:pt idx="9">
                  <c:v>Spicy Special Slims</c:v>
                </c:pt>
                <c:pt idx="10">
                  <c:v>Peanut Butter Cubes</c:v>
                </c:pt>
                <c:pt idx="11">
                  <c:v>Caramel Stuffed Bars</c:v>
                </c:pt>
                <c:pt idx="12">
                  <c:v>Mank Choco</c:v>
                </c:pt>
                <c:pt idx="13">
                  <c:v>99% Dark &amp; Pure</c:v>
                </c:pt>
                <c:pt idx="14">
                  <c:v>Eclairs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84456</c:v>
                </c:pt>
                <c:pt idx="1">
                  <c:v>85787</c:v>
                </c:pt>
                <c:pt idx="2">
                  <c:v>86244</c:v>
                </c:pt>
                <c:pt idx="3">
                  <c:v>93687</c:v>
                </c:pt>
                <c:pt idx="4">
                  <c:v>97122</c:v>
                </c:pt>
                <c:pt idx="5">
                  <c:v>98453</c:v>
                </c:pt>
                <c:pt idx="6">
                  <c:v>112983</c:v>
                </c:pt>
                <c:pt idx="7">
                  <c:v>113199</c:v>
                </c:pt>
                <c:pt idx="8">
                  <c:v>113752</c:v>
                </c:pt>
                <c:pt idx="9">
                  <c:v>119997</c:v>
                </c:pt>
                <c:pt idx="10">
                  <c:v>122235</c:v>
                </c:pt>
                <c:pt idx="11">
                  <c:v>134426</c:v>
                </c:pt>
                <c:pt idx="12">
                  <c:v>136012</c:v>
                </c:pt>
                <c:pt idx="13">
                  <c:v>143143</c:v>
                </c:pt>
                <c:pt idx="14">
                  <c:v>184414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70-4FB6-B5E0-EB36A2300C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Non-Organic</c:v>
                </c:pt>
              </c:strCache>
            </c:strRef>
          </c:tx>
          <c:spPr>
            <a:solidFill>
              <a:srgbClr val="378AD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Social Media</c:v>
                </c:pt>
                <c:pt idx="1">
                  <c:v>Warehouse</c:v>
                </c:pt>
                <c:pt idx="2">
                  <c:v>Website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1206266</c:v>
                </c:pt>
                <c:pt idx="1">
                  <c:v>1157046</c:v>
                </c:pt>
                <c:pt idx="2">
                  <c:v>1928765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6A-4442-AEF7-57A8A87746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Organic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Social Media</c:v>
                </c:pt>
                <c:pt idx="1">
                  <c:v>Warehouse</c:v>
                </c:pt>
                <c:pt idx="2">
                  <c:v>Website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131627</c:v>
                </c:pt>
                <c:pt idx="1">
                  <c:v>297299</c:v>
                </c:pt>
                <c:pt idx="2">
                  <c:v>406806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36A-4442-AEF7-57A8A87746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4342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D8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Choco de Luxe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65760" y="15544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AF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0" y="2194560"/>
            <a:ext cx="4572000" cy="36576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B8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Unlocking Sales Insights Through Data Visualization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i="1" dirty="0">
                <a:solidFill>
                  <a:srgbClr val="B8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European Artisanal Chocolate Brand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337560"/>
            <a:ext cx="1920240" cy="1234440"/>
          </a:xfrm>
          <a:prstGeom prst="rect">
            <a:avLst/>
          </a:prstGeom>
          <a:solidFill>
            <a:srgbClr val="3D221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40156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8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€5.13M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9502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3337560"/>
            <a:ext cx="1920240" cy="1234440"/>
          </a:xfrm>
          <a:prstGeom prst="rect">
            <a:avLst/>
          </a:prstGeom>
          <a:solidFill>
            <a:srgbClr val="3D221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06040" y="340156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8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€2.36M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06040" y="39502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3337560"/>
            <a:ext cx="1920240" cy="1234440"/>
          </a:xfrm>
          <a:prstGeom prst="rect">
            <a:avLst/>
          </a:prstGeom>
          <a:solidFill>
            <a:srgbClr val="3D221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340156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8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54880" y="39502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3337560"/>
            <a:ext cx="1920240" cy="1234440"/>
          </a:xfrm>
          <a:prstGeom prst="rect">
            <a:avLst/>
          </a:prstGeom>
          <a:solidFill>
            <a:srgbClr val="3D221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03720" y="340156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8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1,046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03720" y="39502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Orders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Ajibola Alalade  |  10Alytics Capstone Project  |  2024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8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Introduction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Choco de Luxe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Choco de Luxe</a:t>
            </a:r>
            <a:r>
              <a:rPr lang="en-US" sz="12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premium artisanal chocolate brand headquartered in Brussels, Belgium, with operations across 7 European cities.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distributes chocolate bars, bites, and confections through three channels: Website, Warehouse, and Social Media.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growing product line of 21 SKUs across 10 categories, the brand aims to maintain high-quality standards while increasing European market share.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 Across Europe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37760" y="1508760"/>
            <a:ext cx="3474720" cy="347472"/>
          </a:xfrm>
          <a:prstGeom prst="rect">
            <a:avLst/>
          </a:prstGeom>
          <a:solidFill>
            <a:srgbClr val="F1EDE8"/>
          </a:solidFill>
          <a:ln w="12700">
            <a:solidFill>
              <a:srgbClr val="E8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15453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Turin, Italy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223760" y="154533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€1.01M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937760" y="1956816"/>
            <a:ext cx="3474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0" y="19933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Barcelona, Spain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223760" y="19933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€970K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37760" y="2404872"/>
            <a:ext cx="3474720" cy="347472"/>
          </a:xfrm>
          <a:prstGeom prst="rect">
            <a:avLst/>
          </a:prstGeom>
          <a:solidFill>
            <a:srgbClr val="F1EDE8"/>
          </a:solidFill>
          <a:ln w="12700">
            <a:solidFill>
              <a:srgbClr val="E8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0" y="24414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Amsterdam, Netherlands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223760" y="24414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€925K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937760" y="2852928"/>
            <a:ext cx="3474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0" y="288950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Zurich, Switzerland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223760" y="288950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€677K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937760" y="3300984"/>
            <a:ext cx="3474720" cy="347472"/>
          </a:xfrm>
          <a:prstGeom prst="rect">
            <a:avLst/>
          </a:prstGeom>
          <a:solidFill>
            <a:srgbClr val="F1EDE8"/>
          </a:solidFill>
          <a:ln w="12700">
            <a:solidFill>
              <a:srgbClr val="E8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0" y="3337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Brussels, Belgium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223760" y="3337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€604K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937760" y="3749040"/>
            <a:ext cx="3474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0" y="37856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Hamburg, Germany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223760" y="37856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€586K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937760" y="4197096"/>
            <a:ext cx="3474720" cy="347472"/>
          </a:xfrm>
          <a:prstGeom prst="rect">
            <a:avLst/>
          </a:prstGeom>
          <a:solidFill>
            <a:srgbClr val="F1EDE8"/>
          </a:solidFill>
          <a:ln w="12700">
            <a:solidFill>
              <a:srgbClr val="E8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0" y="42336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Lyon, France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223760" y="42336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€358K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8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 &amp; Project Aim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463040"/>
          </a:xfrm>
          <a:prstGeom prst="rect">
            <a:avLst/>
          </a:prstGeom>
          <a:solidFill>
            <a:srgbClr val="3D2210"/>
          </a:solidFill>
          <a:ln w="12700">
            <a:solidFill>
              <a:srgbClr val="D85A3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8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7955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AF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strong product quality and market presence, Choco de Luxe lacks a unified, data-driven view of how its products, salespeople, and delivery strategies are performing across Europe. Leadership needs actionable insights to optimise sales strategy, delivery efficiency, and regional performance.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260604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2606040"/>
            <a:ext cx="2651760" cy="457200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F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 Performance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sales across locations, channels, and product lines to identify what is driving and dragging revenue.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0" y="260604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2606040"/>
            <a:ext cx="2651760" cy="457200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F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 Patterns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315468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 inefficiencies, workforce gaps, cancellation trends, and growth opportunities across the business.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260604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35040" y="2606040"/>
            <a:ext cx="2651760" cy="457200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2648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F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 Insights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315468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interactive Tableau dashboards to help leadership make informed decisions on product and channel strategy.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8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 1: Location Sales Performance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Which cities are top performers and which need attention?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143000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1143000"/>
            <a:ext cx="29260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89320" y="1234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89320" y="1572768"/>
            <a:ext cx="2651760" cy="36576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89320" y="1691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Turin leads at €1.01M — 20% of total revenue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989320" y="220370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Top 3 cities (Turin, Barcelona, Amsterdam) = 57% of revenue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989320" y="27157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Lyon is the lowest performer (€358K) but has a 0% cancellation rate — reliable, untapped market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989320" y="322783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Brussels &amp; Hamburg have 7.3% cancellation rate — highest in the network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989320" y="373989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Recommendation: Investigate logistics in Brussels &amp; Hamburg; expand marketing in Lyon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8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 2: Channel Effectiveness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Which sales channel is most profitable and drives the most transactions?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143000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1143000"/>
            <a:ext cx="29260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89320" y="1234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89320" y="1572768"/>
            <a:ext cx="2651760" cy="36576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89320" y="1691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Website is the dominant channel — €2.34M revenue (45% of all orders)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989320" y="220370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Warehouse generates the highest average order value at €5,050 per transaction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989320" y="27157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Social Media has the lowest avg. transaction (€4,694) but strong scaling potential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989320" y="322783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All 3 channels share an identical 46% profit margin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989320" y="373989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Recommendation: Focus growth on Website volume; use Warehouse for premium orders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8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 3: Salesperson Productivity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Which salespeople hit the €100K profit target — and who needs support?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143000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1143000"/>
            <a:ext cx="29260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89320" y="1234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89320" y="1572768"/>
            <a:ext cx="2651760" cy="36576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89320" y="1691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Karlen McCaffrey leads at €125,868 — 26% above target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989320" y="220370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10 of 25 reps (40%) hit the €100K profit target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989320" y="27157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15 reps (60%) are below target — avg. shortfall: €18K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989320" y="322783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Average profit per salesperson: €94,352 — just below threshold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989320" y="373989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Recommendation: Coach mid-tier reps (€80K–€99K) to push hit rate above 50%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8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 4: Product-Level Profitability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Which products and categories generate the most profit?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143000"/>
          <a:ext cx="51206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1143000"/>
            <a:ext cx="31089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806440" y="12344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806440" y="1572768"/>
            <a:ext cx="2834640" cy="36576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806440" y="16916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Eclairs is the star product — €184K profit, 16,036 boxes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806440" y="22402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🍫 Dark Chocolate is the top category at 26% of total revenue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806440" y="27889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All 21 products share a 46% margin — volume is the growth lever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806440" y="33375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⬇️ White Chocolate &amp; Drinking Coco are the weakest categories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806440" y="38862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Recommendation: Increase marketing &amp; stock for Eclairs and 99% Dark &amp; Pure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8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 5: Organic vs Non-Organic Demand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How does organic product performance compare across sales channels?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143000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1143000"/>
            <a:ext cx="29260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89320" y="1234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89320" y="1572768"/>
            <a:ext cx="2651760" cy="36576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89320" y="1691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Organic SKUs = 3 of 21 products (14%) but generate 16% of revenue — above their weight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989320" y="220370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Warehouse has the highest organic share at 20% — organic buyers prefer in-store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989320" y="27157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Social Media is the weakest organic channel at only 10% share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989320" y="322783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Website drives the highest organic volume at €406K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989320" y="373989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Recommendation: Expand organic range and target Warehouse &amp; Website channels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8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&amp; Strategic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594360" cy="713232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69264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85953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106424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fulfilment logistics in Brussels &amp; Hamburg (7.3% cancellation rate). Pilot a targeted marketing push in Lyon which has 0% cancellations but low volume.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636776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636776"/>
            <a:ext cx="594360" cy="713232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801368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16916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193852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Website volume — it drives 45% of orders at a 46% margin. Use Warehouse for premium/high-value order fulfilment. Invest in Social Media paid campaigns.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46888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468880"/>
            <a:ext cx="594360" cy="713232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633472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252374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Salespeople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277063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40% hit the €100K target. Introduce a coaching programme for the mid-tier (€80K–€99K) reps — moving 5 to target would add ~€100K in profit.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300984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300984"/>
            <a:ext cx="594360" cy="713232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465576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335584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51560" y="360273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Eclairs and 99% Dark &amp; Pure — highest profit products. Consider phasing out or repositioning White Chocolate and Drinking Coco (lowest performers).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133088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4133088"/>
            <a:ext cx="594360" cy="713232"/>
          </a:xfrm>
          <a:prstGeom prst="rect">
            <a:avLst/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429768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51560" y="41879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51560" y="443484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organic product range from 3 to 6 SKUs. Prioritise Warehouse and Website channels where organic buyers are most active. Use Social Media to build organic brand awareness.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8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Tableau Dashboard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3749040"/>
          </a:xfrm>
          <a:prstGeom prst="rect">
            <a:avLst/>
          </a:prstGeom>
          <a:solidFill>
            <a:srgbClr val="1A0F08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[Paste your Tableau Public dashboard screenshot here]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Screenshot from: public.tableau.com/app/profile/ajibola.alalade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4663440"/>
            <a:ext cx="1609344" cy="365760"/>
          </a:xfrm>
          <a:prstGeom prst="rect">
            <a:avLst/>
          </a:prstGeom>
          <a:solidFill>
            <a:srgbClr val="3D221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681728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Analysis Areas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66544" y="4663440"/>
            <a:ext cx="1609344" cy="365760"/>
          </a:xfrm>
          <a:prstGeom prst="rect">
            <a:avLst/>
          </a:prstGeom>
          <a:solidFill>
            <a:srgbClr val="3D221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66544" y="4681728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€5.13M Revenue Analysed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767328" y="4663440"/>
            <a:ext cx="1609344" cy="365760"/>
          </a:xfrm>
          <a:prstGeom prst="rect">
            <a:avLst/>
          </a:prstGeom>
          <a:solidFill>
            <a:srgbClr val="3D221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67328" y="4681728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1,046 Transactions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68112" y="4663440"/>
            <a:ext cx="1609344" cy="365760"/>
          </a:xfrm>
          <a:prstGeom prst="rect">
            <a:avLst/>
          </a:prstGeom>
          <a:solidFill>
            <a:srgbClr val="3D221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68112" y="4681728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Salespeople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168896" y="4663440"/>
            <a:ext cx="1609344" cy="365760"/>
          </a:xfrm>
          <a:prstGeom prst="rect">
            <a:avLst/>
          </a:prstGeom>
          <a:solidFill>
            <a:srgbClr val="3D221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68896" y="4681728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Products</a:t>
            </a:r>
            <a:endParaRPr lang="en-US" sz="9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DCC8F89-0EAC-46F3-93C7-6462F856D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5"/>
            <a:ext cx="9144000" cy="514099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8FE39AC-B85A-BDE6-CDB9-FDD73AEFDF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55"/>
            <a:ext cx="9144000" cy="51409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961</Words>
  <Application>Microsoft Office PowerPoint</Application>
  <PresentationFormat>On-screen Show (16:9)</PresentationFormat>
  <Paragraphs>118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Choco de Luxe - Sales Performance Analysis</dc:title>
  <dc:subject>PptxGenJS Presentation</dc:subject>
  <dc:creator>Ajibola Alalade</dc:creator>
  <cp:lastModifiedBy>Alalade, AjibolaOlumide</cp:lastModifiedBy>
  <cp:revision>3</cp:revision>
  <dcterms:created xsi:type="dcterms:W3CDTF">2026-06-06T04:36:33Z</dcterms:created>
  <dcterms:modified xsi:type="dcterms:W3CDTF">2026-06-06T15:09:09Z</dcterms:modified>
</cp:coreProperties>
</file>