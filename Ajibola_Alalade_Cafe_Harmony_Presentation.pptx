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[Cafe_Harmony_Capstone_Project.xlsx]Pivot Tables!PivotTable11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by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solidFill>
              <a:srgbClr val="4F81BD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F81BD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F81BD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Tables'!$E$1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'Pivot Tables'!$D$2:$D$6</c:f>
              <c:strCache>
                <c:ptCount val="4"/>
                <c:pt idx="0">
                  <c:v>Airport</c:v>
                </c:pt>
                <c:pt idx="1">
                  <c:v>Downtown</c:v>
                </c:pt>
                <c:pt idx="2">
                  <c:v>Suburbs</c:v>
                </c:pt>
                <c:pt idx="3">
                  <c:v>Uptown</c:v>
                </c:pt>
              </c:strCache>
            </c:strRef>
          </c:cat>
          <c:val>
            <c:numRef>
              <c:f>'Pivot Tables'!$E$2:$E$6</c:f>
              <c:numCache>
                <c:formatCode>0.00</c:formatCode>
                <c:ptCount val="4"/>
                <c:pt idx="0">
                  <c:v>2892.3799999999997</c:v>
                </c:pt>
                <c:pt idx="1">
                  <c:v>3113.45</c:v>
                </c:pt>
                <c:pt idx="2">
                  <c:v>3248.119999999999</c:v>
                </c:pt>
                <c:pt idx="3">
                  <c:v>3359.9599999999991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A8-459E-A199-CF667D5E1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261457232"/>
        <c:axId val="2601056"/>
      </c:barChart>
      <c:catAx>
        <c:axId val="2614572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1056"/>
        <c:crosses val="autoZero"/>
        <c:auto val="1"/>
        <c:lblAlgn val="ctr"/>
        <c:lblOffset val="100"/>
        <c:noMultiLvlLbl val="0"/>
      </c:catAx>
      <c:valAx>
        <c:axId val="260105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45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[Cafe_Harmony_Capstone_Project.xlsx]Pivot Tables!PivotTable12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/>
              <a:t>Revenue by Gender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Tables'!$H$1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1F1-4EF9-92F5-CF6BDC3C2CF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1F1-4EF9-92F5-CF6BDC3C2CF3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Tables'!$G$2:$G$4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'Pivot Tables'!$H$2:$H$4</c:f>
              <c:numCache>
                <c:formatCode>0.00</c:formatCode>
                <c:ptCount val="2"/>
                <c:pt idx="0">
                  <c:v>6826.099999999994</c:v>
                </c:pt>
                <c:pt idx="1">
                  <c:v>5787.8099999999995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F1-4EF9-92F5-CF6BDC3C2CF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[Cafe_Harmony_Capstone_Project.xlsx]Pivot Tables!PivotTable15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baseline="0"/>
              <a:t>Stock Levels by Item</a:t>
            </a:r>
            <a:endParaRPr lang="en-US"/>
          </a:p>
        </c:rich>
      </c:tx>
      <c:layout>
        <c:manualLayout>
          <c:xMode val="edge"/>
          <c:yMode val="edge"/>
          <c:x val="0.24850809732699497"/>
          <c:y val="9.70438936996118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Tables'!$Q$1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Tables'!$P$2:$P$12</c:f>
              <c:strCache>
                <c:ptCount val="10"/>
                <c:pt idx="0">
                  <c:v>Coffee beans</c:v>
                </c:pt>
                <c:pt idx="1">
                  <c:v>Croissant Dough</c:v>
                </c:pt>
                <c:pt idx="2">
                  <c:v>Iced Tea Bags</c:v>
                </c:pt>
                <c:pt idx="3">
                  <c:v>Juice Concentrate</c:v>
                </c:pt>
                <c:pt idx="4">
                  <c:v>Lemon</c:v>
                </c:pt>
                <c:pt idx="5">
                  <c:v>milk</c:v>
                </c:pt>
                <c:pt idx="6">
                  <c:v>Muffin Mix</c:v>
                </c:pt>
                <c:pt idx="7">
                  <c:v>Sandwich Bread</c:v>
                </c:pt>
                <c:pt idx="8">
                  <c:v>Sugar</c:v>
                </c:pt>
                <c:pt idx="9">
                  <c:v>Tea Bags</c:v>
                </c:pt>
              </c:strCache>
            </c:strRef>
          </c:cat>
          <c:val>
            <c:numRef>
              <c:f>'Pivot Tables'!$Q$2:$Q$12</c:f>
              <c:numCache>
                <c:formatCode>General</c:formatCode>
                <c:ptCount val="10"/>
                <c:pt idx="0">
                  <c:v>177</c:v>
                </c:pt>
                <c:pt idx="1">
                  <c:v>126</c:v>
                </c:pt>
                <c:pt idx="2">
                  <c:v>76</c:v>
                </c:pt>
                <c:pt idx="3">
                  <c:v>150</c:v>
                </c:pt>
                <c:pt idx="4">
                  <c:v>163</c:v>
                </c:pt>
                <c:pt idx="5">
                  <c:v>71</c:v>
                </c:pt>
                <c:pt idx="6">
                  <c:v>134</c:v>
                </c:pt>
                <c:pt idx="7">
                  <c:v>195</c:v>
                </c:pt>
                <c:pt idx="8">
                  <c:v>185</c:v>
                </c:pt>
                <c:pt idx="9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16-4B4D-B0FD-24CFDA2BB4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9295536"/>
        <c:axId val="385663552"/>
      </c:barChart>
      <c:catAx>
        <c:axId val="189295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5663552"/>
        <c:crosses val="autoZero"/>
        <c:auto val="1"/>
        <c:lblAlgn val="ctr"/>
        <c:lblOffset val="100"/>
        <c:noMultiLvlLbl val="0"/>
      </c:catAx>
      <c:valAx>
        <c:axId val="3856635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295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[Cafe_Harmony_Capstone_Project.xlsx]Pivot Tables!PivotTable16</c:name>
    <c:fmtId val="7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Tables'!$S$1</c:f>
              <c:strCache>
                <c:ptCount val="1"/>
                <c:pt idx="0">
                  <c:v>Sum of Sales_Achieved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Tables'!$S$2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Tables'!$S$2</c:f>
              <c:numCache>
                <c:formatCode>General</c:formatCode>
                <c:ptCount val="1"/>
                <c:pt idx="0">
                  <c:v>3410246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4E-4D87-B163-89CD21F665D8}"/>
            </c:ext>
          </c:extLst>
        </c:ser>
        <c:ser>
          <c:idx val="1"/>
          <c:order val="1"/>
          <c:tx>
            <c:strRef>
              <c:f>'Pivot Tables'!$T$1</c:f>
              <c:strCache>
                <c:ptCount val="1"/>
                <c:pt idx="0">
                  <c:v>Sum of Sales_Target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Tables'!$S$2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Tables'!$T$2</c:f>
              <c:numCache>
                <c:formatCode>General</c:formatCode>
                <c:ptCount val="1"/>
                <c:pt idx="0">
                  <c:v>2990487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4E-4D87-B163-89CD21F66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86407696"/>
        <c:axId val="385692832"/>
      </c:barChart>
      <c:catAx>
        <c:axId val="4864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5692832"/>
        <c:crosses val="autoZero"/>
        <c:auto val="1"/>
        <c:lblAlgn val="ctr"/>
        <c:lblOffset val="100"/>
        <c:noMultiLvlLbl val="0"/>
      </c:catAx>
      <c:valAx>
        <c:axId val="38569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640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[Cafe_Harmony_Capstone_Project.xlsx]Pivot Tables!PivotTable14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Feedback</a:t>
            </a:r>
            <a:r>
              <a:rPr lang="en-US" baseline="0"/>
              <a:t> Sentiment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42277077865266843"/>
          <c:y val="0.110090405365995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Tables'!$N$1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'Pivot Tables'!$M$2:$M$5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'Pivot Tables'!$N$2:$N$5</c:f>
              <c:numCache>
                <c:formatCode>General</c:formatCode>
                <c:ptCount val="3"/>
                <c:pt idx="0">
                  <c:v>379</c:v>
                </c:pt>
                <c:pt idx="1">
                  <c:v>206</c:v>
                </c:pt>
                <c:pt idx="2">
                  <c:v>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B2-48DE-9EB3-3510C14232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77113440"/>
        <c:axId val="2654816"/>
      </c:barChart>
      <c:catAx>
        <c:axId val="177113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54816"/>
        <c:crosses val="autoZero"/>
        <c:auto val="1"/>
        <c:lblAlgn val="ctr"/>
        <c:lblOffset val="100"/>
        <c:noMultiLvlLbl val="0"/>
      </c:catAx>
      <c:valAx>
        <c:axId val="2654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11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474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Café Harmony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8602C"/>
                </a:solidFill>
              </a:rPr>
              <a:t>Performance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Excel Capstone Project  |  10Alytics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Analyst: Ajibola Olumide Alalade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Sales | Customers | Employees | Stock | Feedback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CASE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Menu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Which top-selling menu product generates the most revenue?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[ Paste your dashboard screenshot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Muffin leads with £2,401 in revenue — highest of all products (19%)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Cappuccino is 2nd at £2,315 — strong and consistent performer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Croissant generates the least revenue at £1,848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1114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Recommendation: Double down on Muffin and Cappuccino promotions. Introduce bundle deals for Croissant to boost sales.</a:t>
            </a:r>
            <a:endParaRPr lang="en-US" sz="11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7C98B9D-ED5C-24E9-681F-945CEB1C5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127685"/>
              </p:ext>
            </p:extLst>
          </p:nvPr>
        </p:nvGraphicFramePr>
        <p:xfrm>
          <a:off x="600342" y="1357312"/>
          <a:ext cx="7943315" cy="255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CASE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Spending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Which customer demographic is driving the highest sales?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[ Paste your dashboard screenshot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Female customers drive 54% of total revenue at £6,826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Age group 26-35 is the highest spending segment at £2,765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56+ age group is surprisingly strong at £2,654 — second highest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1114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Recommendation: Target Female customers aged 26-35 with loyalty programmes and personalised promotions.</a:t>
            </a:r>
            <a:endParaRPr lang="en-US" sz="1100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86EDBF5-C20E-530D-EA18-F9AD684797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320213"/>
              </p:ext>
            </p:extLst>
          </p:nvPr>
        </p:nvGraphicFramePr>
        <p:xfrm>
          <a:off x="783771" y="1234440"/>
          <a:ext cx="7576457" cy="2743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CASE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Stock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Which ingredients are most commonly running low across locations?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[ Paste your dashboard screenshot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Milk is CRITICAL — only 71 units remaining vs 150 ideal stock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Tea Bags, Iced Tea Bags, Croissant Dough and Muffin Mix are all Below Ideal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5 out of 10 stock items need immediate attention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1114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Recommendation: Urgently restock Milk. Implement weekly stock audits and automated reorder alerts for all locations.</a:t>
            </a:r>
            <a:endParaRPr lang="en-US" sz="1100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60B56928-0CC9-9CDE-5781-F38C7AF1A1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520763"/>
              </p:ext>
            </p:extLst>
          </p:nvPr>
        </p:nvGraphicFramePr>
        <p:xfrm>
          <a:off x="457200" y="1212056"/>
          <a:ext cx="8229600" cy="2719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CASE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Employee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Which locations or employees are performing above or below the average sales target?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[ Paste your dashboard screenshot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All 4 locations exceed their sales targets — a very positive 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Airport leads with £892,074 achieved vs £796,560 target (+12%)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423 individual employees are still below their personal sales targets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1114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Recommendation: Coach and support the 423 below-target employees. Share Airport location best practices across all branches.</a:t>
            </a:r>
            <a:endParaRPr lang="en-US" sz="11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6CA1F52-4313-94A9-2621-61CCCE896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8614506"/>
              </p:ext>
            </p:extLst>
          </p:nvPr>
        </p:nvGraphicFramePr>
        <p:xfrm>
          <a:off x="798286" y="1325880"/>
          <a:ext cx="7634514" cy="2617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CASE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Feedback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Analyze customer feedback to identify common themes in satisfaction or dissatisfaction.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[ Paste your dashboard screenshot here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416 Positive vs 379 Negative — the gap is dangerously narrow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Average customer rating is only 3.04 out of 5 — below acceptable standard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 206 Neutral responses suggest many customers are underwhelmed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51114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02C"/>
                </a:solidFill>
              </a:rPr>
              <a:t>Recommendation: Invest in staff training and service quality improvements. Target an average rating of 4.0+ within 6 months.</a:t>
            </a:r>
            <a:endParaRPr lang="en-US" sz="11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E173F2E-648A-002B-8E8F-4B96FAEFED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356324"/>
              </p:ext>
            </p:extLst>
          </p:nvPr>
        </p:nvGraphicFramePr>
        <p:xfrm>
          <a:off x="740229" y="1304925"/>
          <a:ext cx="7794171" cy="253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&amp; Business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Key actions for Café Harmony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01  Menu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Promote Muffin &amp; Cappuccino. Bundle deals for Croissant.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11480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02 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Focus on Female customers aged 26-35. Launch loyalty rewards.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411480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03  Stock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224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Urgently restock Milk. Set reorder points for 5 low-stock items.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411480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04  Employees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Coach 423 below-target staff. Replicate Airport best practices.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411480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6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02C"/>
                </a:solidFill>
              </a:rPr>
              <a:t>05  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8529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Rating 3.04/5 is too low. Invest in training to reach 4.0+.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524</Words>
  <Application>Microsoft Office PowerPoint</Application>
  <PresentationFormat>On-screen Show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Alalade, AjibolaOlumide</cp:lastModifiedBy>
  <cp:revision>2</cp:revision>
  <dcterms:created xsi:type="dcterms:W3CDTF">2026-06-14T19:55:07Z</dcterms:created>
  <dcterms:modified xsi:type="dcterms:W3CDTF">2026-06-15T06:03:28Z</dcterms:modified>
</cp:coreProperties>
</file>